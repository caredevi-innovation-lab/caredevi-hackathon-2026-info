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92"/>
    <p:restoredTop sz="94610"/>
  </p:normalViewPr>
  <p:slideViewPr>
    <p:cSldViewPr snapToGrid="0" snapToObjects="1">
      <p:cViewPr>
        <p:scale>
          <a:sx n="118" d="100"/>
          <a:sy n="118" d="100"/>
        </p:scale>
        <p:origin x="296" y="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8607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058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7772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LifeLine AI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1828800" y="18745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Cardiac Detection. Voice Confirmation. Automated Emergency Response.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828800" y="25603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continuously monitors heart patients through wearable sensors,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cardiac emergencies in real time, confirms with the patient via voice,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automatically dispatches the ambulance to the best hospital — not just the nearest.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828800" y="354566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Healthcare Innovation Hackathon 2026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828800" y="3794760"/>
            <a:ext cx="52183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Team VIKINGS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28800" y="4572000"/>
            <a:ext cx="2286000" cy="32004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82880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Patient Triage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297680" y="4572000"/>
            <a:ext cx="228600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29768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Data &amp; Interoperability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766560" y="4572000"/>
            <a:ext cx="22860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76656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Care Coordination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chemeClr val="bg2"/>
                </a:solidFill>
              </a:rPr>
              <a:t>Why People Die Before Help Arrives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350K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arrests/year in the US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10% survive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51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0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Fatal Timeline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63440" y="1673352"/>
            <a:ext cx="164592" cy="164592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27448" y="1837944"/>
            <a:ext cx="36576" cy="292608"/>
          </a:xfrm>
          <a:prstGeom prst="rect">
            <a:avLst/>
          </a:prstGeom>
          <a:solidFill>
            <a:srgbClr val="1E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83480" y="1600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sec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2648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stops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2130552"/>
            <a:ext cx="164592" cy="164592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27448" y="2295144"/>
            <a:ext cx="36576" cy="292608"/>
          </a:xfrm>
          <a:prstGeom prst="rect">
            <a:avLst/>
          </a:prstGeom>
          <a:solidFill>
            <a:srgbClr val="1E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83480" y="2057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2648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loses consciousness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63440" y="258775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727448" y="2752344"/>
            <a:ext cx="36576" cy="292608"/>
          </a:xfrm>
          <a:prstGeom prst="rect">
            <a:avLst/>
          </a:prstGeom>
          <a:solidFill>
            <a:srgbClr val="1E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983480" y="2514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2648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damage begins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63440" y="3044952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727448" y="3209544"/>
            <a:ext cx="36576" cy="292608"/>
          </a:xfrm>
          <a:prstGeom prst="rect">
            <a:avLst/>
          </a:prstGeom>
          <a:solidFill>
            <a:srgbClr val="1E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983480" y="2971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hr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12648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patient delays calling 911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63440" y="3502152"/>
            <a:ext cx="164592" cy="16459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727448" y="3666744"/>
            <a:ext cx="36576" cy="292608"/>
          </a:xfrm>
          <a:prstGeom prst="rect">
            <a:avLst/>
          </a:prstGeom>
          <a:solidFill>
            <a:srgbClr val="1E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983480" y="3429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7-14 min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12648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ambulance response time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663440" y="3959352"/>
            <a:ext cx="164592" cy="16459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983480" y="3886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???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12648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has zero context on arrival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9B2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killer isn't the heart attack — it's the delay. Patients wait hours. ERs prepare from scratch. Nobody coordinates.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LifeLine AI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51760" cy="1828800"/>
          </a:xfrm>
          <a:prstGeom prst="rect">
            <a:avLst/>
          </a:prstGeom>
          <a:solidFill>
            <a:srgbClr val="1E27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1247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6002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wearable sensors stream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ECG, SpO2, HRV, skin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+ phone GPS, weather,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context continuously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960120"/>
            <a:ext cx="2651760" cy="1828800"/>
          </a:xfrm>
          <a:prstGeom prst="rect">
            <a:avLst/>
          </a:prstGeom>
          <a:solidFill>
            <a:srgbClr val="1E27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00400" y="960120"/>
            <a:ext cx="265176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337560" y="11430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33756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0972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06240" y="11247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37560" y="16002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ST elevation, VFib,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HR patterns, sudden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— cross-validates watch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with phone sensors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35040" y="960120"/>
            <a:ext cx="2651760" cy="1828800"/>
          </a:xfrm>
          <a:prstGeom prst="rect">
            <a:avLst/>
          </a:prstGeom>
          <a:solidFill>
            <a:srgbClr val="1E27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035040" y="960120"/>
            <a:ext cx="265176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172200" y="1143000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17220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09728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040880" y="11247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Confirmation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172200" y="16002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Pops up on screen: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detected something.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you feeling?"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speaks — AI listens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65760" y="2971800"/>
            <a:ext cx="2651760" cy="1828800"/>
          </a:xfrm>
          <a:prstGeom prst="rect">
            <a:avLst/>
          </a:prstGeom>
          <a:solidFill>
            <a:srgbClr val="1E27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365760" y="2971800"/>
            <a:ext cx="2651760" cy="45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02920" y="315468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50292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10896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371600" y="31363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02920" y="3611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analyzes: voice symptoms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sensor data + pre-med history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environment + triage protocols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RAG → clinical assessment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3200400" y="2971800"/>
            <a:ext cx="2651760" cy="1828800"/>
          </a:xfrm>
          <a:prstGeom prst="rect">
            <a:avLst/>
          </a:prstGeom>
          <a:solidFill>
            <a:srgbClr val="1E27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3200400" y="2971800"/>
            <a:ext cx="265176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3337560" y="315468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333756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40" y="3108960"/>
            <a:ext cx="365760" cy="3657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206240" y="31363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Hospital Match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3337560" y="3611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community hospitals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published capability data.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STEMI → cath lab. Stroke 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center. Best fit, not nearest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6035040" y="2971800"/>
            <a:ext cx="2651760" cy="1828800"/>
          </a:xfrm>
          <a:prstGeom prst="rect">
            <a:avLst/>
          </a:prstGeom>
          <a:solidFill>
            <a:srgbClr val="1E27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6035040" y="2971800"/>
            <a:ext cx="2651760" cy="4572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6172200" y="3154680"/>
            <a:ext cx="320040" cy="320040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617220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108960"/>
            <a:ext cx="365760" cy="36576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040880" y="31363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Auto-Dispatch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6172200" y="3611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ambulance automatically.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FHIR Bundle to hospital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full patient history + AI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before arrival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28803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46" name="Text 38"/>
          <p:cNvSpPr/>
          <p:nvPr/>
        </p:nvSpPr>
        <p:spPr>
          <a:xfrm>
            <a:off x="57150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47" name="Text 39"/>
          <p:cNvSpPr/>
          <p:nvPr/>
        </p:nvSpPr>
        <p:spPr>
          <a:xfrm>
            <a:off x="28803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48" name="Text 40"/>
          <p:cNvSpPr/>
          <p:nvPr/>
        </p:nvSpPr>
        <p:spPr>
          <a:xfrm>
            <a:off x="57150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49" name="Text 41"/>
          <p:cNvSpPr/>
          <p:nvPr/>
        </p:nvSpPr>
        <p:spPr>
          <a:xfrm>
            <a:off x="42062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↓</a:t>
            </a:r>
            <a:endParaRPr lang="en-US" sz="1800" dirty="0"/>
          </a:p>
        </p:txBody>
      </p:sp>
      <p:sp>
        <p:nvSpPr>
          <p:cNvPr id="50" name="Text 4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patient doesn't respond to voice confirmation — the system auto-dispatches. They don't need to do anything after the alert.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>
            <a:extLst>
              <a:ext uri="{FF2B5EF4-FFF2-40B4-BE49-F238E27FC236}">
                <a16:creationId xmlns:a16="http://schemas.microsoft.com/office/drawing/2014/main" id="{4D769E8C-F7D0-428D-1142-54527CF31402}"/>
              </a:ext>
            </a:extLst>
          </p:cNvPr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Collect &amp; Analyze Data</a:t>
            </a:r>
            <a:endParaRPr lang="en-US" sz="2800" dirty="0"/>
          </a:p>
        </p:txBody>
      </p:sp>
      <p:sp>
        <p:nvSpPr>
          <p:cNvPr id="57" name="Shape 1">
            <a:extLst>
              <a:ext uri="{FF2B5EF4-FFF2-40B4-BE49-F238E27FC236}">
                <a16:creationId xmlns:a16="http://schemas.microsoft.com/office/drawing/2014/main" id="{5E32D9B4-2358-84F5-DB8F-F28950F06A8B}"/>
              </a:ext>
            </a:extLst>
          </p:cNvPr>
          <p:cNvSpPr/>
          <p:nvPr/>
        </p:nvSpPr>
        <p:spPr>
          <a:xfrm>
            <a:off x="365760" y="909828"/>
            <a:ext cx="3851516" cy="3433572"/>
          </a:xfrm>
          <a:prstGeom prst="rect">
            <a:avLst/>
          </a:prstGeom>
          <a:solidFill>
            <a:srgbClr val="1E274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2">
            <a:extLst>
              <a:ext uri="{FF2B5EF4-FFF2-40B4-BE49-F238E27FC236}">
                <a16:creationId xmlns:a16="http://schemas.microsoft.com/office/drawing/2014/main" id="{FB09F889-410E-BAE8-0BB2-D688A0735DFC}"/>
              </a:ext>
            </a:extLst>
          </p:cNvPr>
          <p:cNvSpPr/>
          <p:nvPr/>
        </p:nvSpPr>
        <p:spPr>
          <a:xfrm>
            <a:off x="365760" y="822960"/>
            <a:ext cx="41148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501EEA3F-309B-8259-8B84-32841F4E1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274320" cy="274320"/>
          </a:xfrm>
          <a:prstGeom prst="rect">
            <a:avLst/>
          </a:prstGeom>
        </p:spPr>
      </p:pic>
      <p:sp>
        <p:nvSpPr>
          <p:cNvPr id="60" name="Text 3">
            <a:extLst>
              <a:ext uri="{FF2B5EF4-FFF2-40B4-BE49-F238E27FC236}">
                <a16:creationId xmlns:a16="http://schemas.microsoft.com/office/drawing/2014/main" id="{4FE34C5C-57C9-6B8F-B43B-2771ABA7D664}"/>
              </a:ext>
            </a:extLst>
          </p:cNvPr>
          <p:cNvSpPr/>
          <p:nvPr/>
        </p:nvSpPr>
        <p:spPr>
          <a:xfrm>
            <a:off x="91440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Collect</a:t>
            </a:r>
            <a:endParaRPr lang="en-US" sz="1500" dirty="0"/>
          </a:p>
        </p:txBody>
      </p:sp>
      <p:sp>
        <p:nvSpPr>
          <p:cNvPr id="61" name="Shape 4">
            <a:extLst>
              <a:ext uri="{FF2B5EF4-FFF2-40B4-BE49-F238E27FC236}">
                <a16:creationId xmlns:a16="http://schemas.microsoft.com/office/drawing/2014/main" id="{E2A22E52-DCC2-A3AD-9CAF-8FA569DD6FC1}"/>
              </a:ext>
            </a:extLst>
          </p:cNvPr>
          <p:cNvSpPr/>
          <p:nvPr/>
        </p:nvSpPr>
        <p:spPr>
          <a:xfrm>
            <a:off x="548640" y="146304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">
            <a:extLst>
              <a:ext uri="{FF2B5EF4-FFF2-40B4-BE49-F238E27FC236}">
                <a16:creationId xmlns:a16="http://schemas.microsoft.com/office/drawing/2014/main" id="{239AD49C-8368-4F70-6C91-A392ABBA60AF}"/>
              </a:ext>
            </a:extLst>
          </p:cNvPr>
          <p:cNvSpPr/>
          <p:nvPr/>
        </p:nvSpPr>
        <p:spPr>
          <a:xfrm>
            <a:off x="804672" y="1399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Sensors (24/7)</a:t>
            </a:r>
            <a:endParaRPr lang="en-US" sz="1100" dirty="0"/>
          </a:p>
        </p:txBody>
      </p:sp>
      <p:sp>
        <p:nvSpPr>
          <p:cNvPr id="63" name="Text 6">
            <a:extLst>
              <a:ext uri="{FF2B5EF4-FFF2-40B4-BE49-F238E27FC236}">
                <a16:creationId xmlns:a16="http://schemas.microsoft.com/office/drawing/2014/main" id="{C0CFAEC6-6A08-D8AC-E0F6-94FA75B8EF14}"/>
              </a:ext>
            </a:extLst>
          </p:cNvPr>
          <p:cNvSpPr/>
          <p:nvPr/>
        </p:nvSpPr>
        <p:spPr>
          <a:xfrm>
            <a:off x="2468880" y="13990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rate, ECG, SpO2, HRV, skin temp, fall detection</a:t>
            </a:r>
            <a:endParaRPr lang="en-US" sz="1000" dirty="0"/>
          </a:p>
        </p:txBody>
      </p:sp>
      <p:sp>
        <p:nvSpPr>
          <p:cNvPr id="64" name="Shape 7">
            <a:extLst>
              <a:ext uri="{FF2B5EF4-FFF2-40B4-BE49-F238E27FC236}">
                <a16:creationId xmlns:a16="http://schemas.microsoft.com/office/drawing/2014/main" id="{880D18CB-4789-8AC0-18FD-5B506BCC468E}"/>
              </a:ext>
            </a:extLst>
          </p:cNvPr>
          <p:cNvSpPr/>
          <p:nvPr/>
        </p:nvSpPr>
        <p:spPr>
          <a:xfrm>
            <a:off x="548640" y="1993392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8">
            <a:extLst>
              <a:ext uri="{FF2B5EF4-FFF2-40B4-BE49-F238E27FC236}">
                <a16:creationId xmlns:a16="http://schemas.microsoft.com/office/drawing/2014/main" id="{C7B5DFE3-F898-56C7-8983-DE4DBB425BB1}"/>
              </a:ext>
            </a:extLst>
          </p:cNvPr>
          <p:cNvSpPr/>
          <p:nvPr/>
        </p:nvSpPr>
        <p:spPr>
          <a:xfrm>
            <a:off x="804672" y="19293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Sensors</a:t>
            </a:r>
            <a:endParaRPr lang="en-US" sz="1100" dirty="0"/>
          </a:p>
        </p:txBody>
      </p:sp>
      <p:sp>
        <p:nvSpPr>
          <p:cNvPr id="66" name="Text 9">
            <a:extLst>
              <a:ext uri="{FF2B5EF4-FFF2-40B4-BE49-F238E27FC236}">
                <a16:creationId xmlns:a16="http://schemas.microsoft.com/office/drawing/2014/main" id="{F9A6FC43-994F-2DA1-4D31-D71B6036F9FE}"/>
              </a:ext>
            </a:extLst>
          </p:cNvPr>
          <p:cNvSpPr/>
          <p:nvPr/>
        </p:nvSpPr>
        <p:spPr>
          <a:xfrm>
            <a:off x="2468880" y="192938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Accelerometer, GPS location, activity status, last interaction</a:t>
            </a:r>
            <a:endParaRPr lang="en-US" sz="1000" dirty="0"/>
          </a:p>
        </p:txBody>
      </p:sp>
      <p:sp>
        <p:nvSpPr>
          <p:cNvPr id="67" name="Shape 10">
            <a:extLst>
              <a:ext uri="{FF2B5EF4-FFF2-40B4-BE49-F238E27FC236}">
                <a16:creationId xmlns:a16="http://schemas.microsoft.com/office/drawing/2014/main" id="{CE690406-0D3E-3704-3A12-6B3593C7E2E3}"/>
              </a:ext>
            </a:extLst>
          </p:cNvPr>
          <p:cNvSpPr/>
          <p:nvPr/>
        </p:nvSpPr>
        <p:spPr>
          <a:xfrm>
            <a:off x="548640" y="2523744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11">
            <a:extLst>
              <a:ext uri="{FF2B5EF4-FFF2-40B4-BE49-F238E27FC236}">
                <a16:creationId xmlns:a16="http://schemas.microsoft.com/office/drawing/2014/main" id="{434921F1-02B0-05BA-3B51-939FB1316DF0}"/>
              </a:ext>
            </a:extLst>
          </p:cNvPr>
          <p:cNvSpPr/>
          <p:nvPr/>
        </p:nvSpPr>
        <p:spPr>
          <a:xfrm>
            <a:off x="804672" y="2459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Pre-Med History (FHIR)</a:t>
            </a:r>
            <a:endParaRPr lang="en-US" sz="1100" dirty="0"/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EC1BC600-100F-AB70-04D6-58A1D862E56B}"/>
              </a:ext>
            </a:extLst>
          </p:cNvPr>
          <p:cNvSpPr/>
          <p:nvPr/>
        </p:nvSpPr>
        <p:spPr>
          <a:xfrm>
            <a:off x="2468880" y="245973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Conditions, medications, allergies, blood type, prior surgeries</a:t>
            </a:r>
            <a:endParaRPr lang="en-US" sz="1000" dirty="0"/>
          </a:p>
        </p:txBody>
      </p:sp>
      <p:sp>
        <p:nvSpPr>
          <p:cNvPr id="70" name="Shape 13">
            <a:extLst>
              <a:ext uri="{FF2B5EF4-FFF2-40B4-BE49-F238E27FC236}">
                <a16:creationId xmlns:a16="http://schemas.microsoft.com/office/drawing/2014/main" id="{C924E0DC-6E48-EBB4-E978-8F9DDB277D27}"/>
              </a:ext>
            </a:extLst>
          </p:cNvPr>
          <p:cNvSpPr/>
          <p:nvPr/>
        </p:nvSpPr>
        <p:spPr>
          <a:xfrm>
            <a:off x="548640" y="3054096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14">
            <a:extLst>
              <a:ext uri="{FF2B5EF4-FFF2-40B4-BE49-F238E27FC236}">
                <a16:creationId xmlns:a16="http://schemas.microsoft.com/office/drawing/2014/main" id="{E2109C69-7518-E0C3-0FA2-709705B832D3}"/>
              </a:ext>
            </a:extLst>
          </p:cNvPr>
          <p:cNvSpPr/>
          <p:nvPr/>
        </p:nvSpPr>
        <p:spPr>
          <a:xfrm>
            <a:off x="804672" y="2990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72" name="Text 15">
            <a:extLst>
              <a:ext uri="{FF2B5EF4-FFF2-40B4-BE49-F238E27FC236}">
                <a16:creationId xmlns:a16="http://schemas.microsoft.com/office/drawing/2014/main" id="{F52239CE-CF91-EE86-26BB-F1B5BF548F6E}"/>
              </a:ext>
            </a:extLst>
          </p:cNvPr>
          <p:cNvSpPr/>
          <p:nvPr/>
        </p:nvSpPr>
        <p:spPr>
          <a:xfrm>
            <a:off x="2468880" y="29900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temperature, altitude, location type (gym/home/outdoor)</a:t>
            </a:r>
            <a:endParaRPr lang="en-US" sz="1000" dirty="0"/>
          </a:p>
        </p:txBody>
      </p:sp>
      <p:sp>
        <p:nvSpPr>
          <p:cNvPr id="73" name="Shape 16">
            <a:extLst>
              <a:ext uri="{FF2B5EF4-FFF2-40B4-BE49-F238E27FC236}">
                <a16:creationId xmlns:a16="http://schemas.microsoft.com/office/drawing/2014/main" id="{7622035F-EBC4-C195-B475-DBAE17A15BC2}"/>
              </a:ext>
            </a:extLst>
          </p:cNvPr>
          <p:cNvSpPr/>
          <p:nvPr/>
        </p:nvSpPr>
        <p:spPr>
          <a:xfrm>
            <a:off x="548640" y="3584448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17">
            <a:extLst>
              <a:ext uri="{FF2B5EF4-FFF2-40B4-BE49-F238E27FC236}">
                <a16:creationId xmlns:a16="http://schemas.microsoft.com/office/drawing/2014/main" id="{88441174-B84B-42F5-2787-D70B7FC7B00C}"/>
              </a:ext>
            </a:extLst>
          </p:cNvPr>
          <p:cNvSpPr/>
          <p:nvPr/>
        </p:nvSpPr>
        <p:spPr>
          <a:xfrm>
            <a:off x="804672" y="3520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100" dirty="0"/>
          </a:p>
        </p:txBody>
      </p:sp>
      <p:sp>
        <p:nvSpPr>
          <p:cNvPr id="75" name="Text 18">
            <a:extLst>
              <a:ext uri="{FF2B5EF4-FFF2-40B4-BE49-F238E27FC236}">
                <a16:creationId xmlns:a16="http://schemas.microsoft.com/office/drawing/2014/main" id="{7FEDA4EF-F12F-11E2-A003-81AF905F98D2}"/>
              </a:ext>
            </a:extLst>
          </p:cNvPr>
          <p:cNvSpPr/>
          <p:nvPr/>
        </p:nvSpPr>
        <p:spPr>
          <a:xfrm>
            <a:off x="246888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Patient's spoken symptoms, speech quality (slurred/clear/truncated)</a:t>
            </a:r>
            <a:endParaRPr lang="en-US" sz="1000" dirty="0"/>
          </a:p>
        </p:txBody>
      </p:sp>
      <p:sp>
        <p:nvSpPr>
          <p:cNvPr id="76" name="Shape 19">
            <a:extLst>
              <a:ext uri="{FF2B5EF4-FFF2-40B4-BE49-F238E27FC236}">
                <a16:creationId xmlns:a16="http://schemas.microsoft.com/office/drawing/2014/main" id="{3FD5B6AF-AFBC-20C6-1E13-4D8EA4E70CC6}"/>
              </a:ext>
            </a:extLst>
          </p:cNvPr>
          <p:cNvSpPr/>
          <p:nvPr/>
        </p:nvSpPr>
        <p:spPr>
          <a:xfrm>
            <a:off x="4663440" y="960120"/>
            <a:ext cx="3851516" cy="3387852"/>
          </a:xfrm>
          <a:prstGeom prst="rect">
            <a:avLst/>
          </a:prstGeom>
          <a:solidFill>
            <a:srgbClr val="1E274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7" name="Shape 20">
            <a:extLst>
              <a:ext uri="{FF2B5EF4-FFF2-40B4-BE49-F238E27FC236}">
                <a16:creationId xmlns:a16="http://schemas.microsoft.com/office/drawing/2014/main" id="{935C4E9A-9189-5C53-E2C9-193050881ABD}"/>
              </a:ext>
            </a:extLst>
          </p:cNvPr>
          <p:cNvSpPr/>
          <p:nvPr/>
        </p:nvSpPr>
        <p:spPr>
          <a:xfrm>
            <a:off x="4663440" y="822960"/>
            <a:ext cx="4114800" cy="45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8" name="Image 1" descr="preencoded.png">
            <a:extLst>
              <a:ext uri="{FF2B5EF4-FFF2-40B4-BE49-F238E27FC236}">
                <a16:creationId xmlns:a16="http://schemas.microsoft.com/office/drawing/2014/main" id="{3DE3E8DD-3560-F915-38A3-5FAF8499E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960120"/>
            <a:ext cx="274320" cy="274320"/>
          </a:xfrm>
          <a:prstGeom prst="rect">
            <a:avLst/>
          </a:prstGeom>
        </p:spPr>
      </p:pic>
      <p:sp>
        <p:nvSpPr>
          <p:cNvPr id="79" name="Text 21">
            <a:extLst>
              <a:ext uri="{FF2B5EF4-FFF2-40B4-BE49-F238E27FC236}">
                <a16:creationId xmlns:a16="http://schemas.microsoft.com/office/drawing/2014/main" id="{DF05B9F9-06D7-EFFB-8A6B-735081571E62}"/>
              </a:ext>
            </a:extLst>
          </p:cNvPr>
          <p:cNvSpPr/>
          <p:nvPr/>
        </p:nvSpPr>
        <p:spPr>
          <a:xfrm>
            <a:off x="521208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Analyze</a:t>
            </a:r>
            <a:endParaRPr lang="en-US" sz="1500" dirty="0"/>
          </a:p>
        </p:txBody>
      </p:sp>
      <p:sp>
        <p:nvSpPr>
          <p:cNvPr id="80" name="Shape 22">
            <a:extLst>
              <a:ext uri="{FF2B5EF4-FFF2-40B4-BE49-F238E27FC236}">
                <a16:creationId xmlns:a16="http://schemas.microsoft.com/office/drawing/2014/main" id="{2BFA1716-57C8-4601-494B-60E34250F728}"/>
              </a:ext>
            </a:extLst>
          </p:cNvPr>
          <p:cNvSpPr/>
          <p:nvPr/>
        </p:nvSpPr>
        <p:spPr>
          <a:xfrm>
            <a:off x="4846320" y="1444752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23">
            <a:extLst>
              <a:ext uri="{FF2B5EF4-FFF2-40B4-BE49-F238E27FC236}">
                <a16:creationId xmlns:a16="http://schemas.microsoft.com/office/drawing/2014/main" id="{ADD0CCA9-1E07-310B-0E5A-5E261402FB3F}"/>
              </a:ext>
            </a:extLst>
          </p:cNvPr>
          <p:cNvSpPr/>
          <p:nvPr/>
        </p:nvSpPr>
        <p:spPr>
          <a:xfrm>
            <a:off x="4846320" y="1444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82" name="Text 24">
            <a:extLst>
              <a:ext uri="{FF2B5EF4-FFF2-40B4-BE49-F238E27FC236}">
                <a16:creationId xmlns:a16="http://schemas.microsoft.com/office/drawing/2014/main" id="{4429D043-F80F-FD55-223E-0FADC03D3331}"/>
              </a:ext>
            </a:extLst>
          </p:cNvPr>
          <p:cNvSpPr/>
          <p:nvPr/>
        </p:nvSpPr>
        <p:spPr>
          <a:xfrm>
            <a:off x="5212080" y="14173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 sensors</a:t>
            </a:r>
            <a:endParaRPr lang="en-US" sz="1200" dirty="0"/>
          </a:p>
        </p:txBody>
      </p:sp>
      <p:sp>
        <p:nvSpPr>
          <p:cNvPr id="83" name="Text 25">
            <a:extLst>
              <a:ext uri="{FF2B5EF4-FFF2-40B4-BE49-F238E27FC236}">
                <a16:creationId xmlns:a16="http://schemas.microsoft.com/office/drawing/2014/main" id="{4FAE35B3-A6B9-7039-1044-09E0C2B45126}"/>
              </a:ext>
            </a:extLst>
          </p:cNvPr>
          <p:cNvSpPr/>
          <p:nvPr/>
        </p:nvSpPr>
        <p:spPr>
          <a:xfrm>
            <a:off x="5212080" y="16550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+ phone must agree. Watch says HR=0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phone detects movement → sensor error, not emergency.</a:t>
            </a:r>
            <a:endParaRPr lang="en-US" sz="900" dirty="0"/>
          </a:p>
        </p:txBody>
      </p:sp>
      <p:sp>
        <p:nvSpPr>
          <p:cNvPr id="84" name="Shape 26">
            <a:extLst>
              <a:ext uri="{FF2B5EF4-FFF2-40B4-BE49-F238E27FC236}">
                <a16:creationId xmlns:a16="http://schemas.microsoft.com/office/drawing/2014/main" id="{1EB823B8-E02C-2713-E311-64D4545FBBB3}"/>
              </a:ext>
            </a:extLst>
          </p:cNvPr>
          <p:cNvSpPr/>
          <p:nvPr/>
        </p:nvSpPr>
        <p:spPr>
          <a:xfrm>
            <a:off x="4846320" y="2011680"/>
            <a:ext cx="237744" cy="23774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27">
            <a:extLst>
              <a:ext uri="{FF2B5EF4-FFF2-40B4-BE49-F238E27FC236}">
                <a16:creationId xmlns:a16="http://schemas.microsoft.com/office/drawing/2014/main" id="{D5904D53-F550-1635-A8B7-59B8595BBA89}"/>
              </a:ext>
            </a:extLst>
          </p:cNvPr>
          <p:cNvSpPr/>
          <p:nvPr/>
        </p:nvSpPr>
        <p:spPr>
          <a:xfrm>
            <a:off x="4846320" y="20116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86" name="Text 28">
            <a:extLst>
              <a:ext uri="{FF2B5EF4-FFF2-40B4-BE49-F238E27FC236}">
                <a16:creationId xmlns:a16="http://schemas.microsoft.com/office/drawing/2014/main" id="{40A37079-E5D4-4407-0445-49503BC7DEDF}"/>
              </a:ext>
            </a:extLst>
          </p:cNvPr>
          <p:cNvSpPr/>
          <p:nvPr/>
        </p:nvSpPr>
        <p:spPr>
          <a:xfrm>
            <a:off x="5212080" y="1984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personal thresholds</a:t>
            </a:r>
            <a:endParaRPr lang="en-US" sz="1200" dirty="0"/>
          </a:p>
        </p:txBody>
      </p:sp>
      <p:sp>
        <p:nvSpPr>
          <p:cNvPr id="87" name="Text 29">
            <a:extLst>
              <a:ext uri="{FF2B5EF4-FFF2-40B4-BE49-F238E27FC236}">
                <a16:creationId xmlns:a16="http://schemas.microsoft.com/office/drawing/2014/main" id="{135DB2F6-DC5C-80F6-5BEE-B2E013128FB3}"/>
              </a:ext>
            </a:extLst>
          </p:cNvPr>
          <p:cNvSpPr/>
          <p:nvPr/>
        </p:nvSpPr>
        <p:spPr>
          <a:xfrm>
            <a:off x="5212080" y="22219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175 at the gym = normal.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175 while sleeping = emergency.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number, different meaning.</a:t>
            </a:r>
            <a:endParaRPr lang="en-US" sz="900" dirty="0"/>
          </a:p>
        </p:txBody>
      </p:sp>
      <p:sp>
        <p:nvSpPr>
          <p:cNvPr id="88" name="Shape 30">
            <a:extLst>
              <a:ext uri="{FF2B5EF4-FFF2-40B4-BE49-F238E27FC236}">
                <a16:creationId xmlns:a16="http://schemas.microsoft.com/office/drawing/2014/main" id="{CBFF5AAF-F9BB-0AA3-F352-61EBE0AFD418}"/>
              </a:ext>
            </a:extLst>
          </p:cNvPr>
          <p:cNvSpPr/>
          <p:nvPr/>
        </p:nvSpPr>
        <p:spPr>
          <a:xfrm>
            <a:off x="4846320" y="2578608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31">
            <a:extLst>
              <a:ext uri="{FF2B5EF4-FFF2-40B4-BE49-F238E27FC236}">
                <a16:creationId xmlns:a16="http://schemas.microsoft.com/office/drawing/2014/main" id="{7DBE0626-9C60-2B38-AAC0-6BEA660B255D}"/>
              </a:ext>
            </a:extLst>
          </p:cNvPr>
          <p:cNvSpPr/>
          <p:nvPr/>
        </p:nvSpPr>
        <p:spPr>
          <a:xfrm>
            <a:off x="4846320" y="2578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90" name="Text 32">
            <a:extLst>
              <a:ext uri="{FF2B5EF4-FFF2-40B4-BE49-F238E27FC236}">
                <a16:creationId xmlns:a16="http://schemas.microsoft.com/office/drawing/2014/main" id="{AC861DB5-048A-F79D-C7C8-3B862B28DAAF}"/>
              </a:ext>
            </a:extLst>
          </p:cNvPr>
          <p:cNvSpPr/>
          <p:nvPr/>
        </p:nvSpPr>
        <p:spPr>
          <a:xfrm>
            <a:off x="5212080" y="25511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medical history</a:t>
            </a:r>
            <a:endParaRPr lang="en-US" sz="1200" dirty="0"/>
          </a:p>
        </p:txBody>
      </p:sp>
      <p:sp>
        <p:nvSpPr>
          <p:cNvPr id="91" name="Text 33">
            <a:extLst>
              <a:ext uri="{FF2B5EF4-FFF2-40B4-BE49-F238E27FC236}">
                <a16:creationId xmlns:a16="http://schemas.microsoft.com/office/drawing/2014/main" id="{04B1614A-1559-AC12-5F92-551F86A11103}"/>
              </a:ext>
            </a:extLst>
          </p:cNvPr>
          <p:cNvSpPr/>
          <p:nvPr/>
        </p:nvSpPr>
        <p:spPr>
          <a:xfrm>
            <a:off x="521208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MI + chest pain = high risk.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 + chest pain = lower risk.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shifts probability, doesn't predetermine.</a:t>
            </a:r>
            <a:endParaRPr lang="en-US" sz="900" dirty="0"/>
          </a:p>
        </p:txBody>
      </p:sp>
      <p:sp>
        <p:nvSpPr>
          <p:cNvPr id="92" name="Shape 34">
            <a:extLst>
              <a:ext uri="{FF2B5EF4-FFF2-40B4-BE49-F238E27FC236}">
                <a16:creationId xmlns:a16="http://schemas.microsoft.com/office/drawing/2014/main" id="{8AEF7550-F008-6EB3-7DD8-199958929FBA}"/>
              </a:ext>
            </a:extLst>
          </p:cNvPr>
          <p:cNvSpPr/>
          <p:nvPr/>
        </p:nvSpPr>
        <p:spPr>
          <a:xfrm>
            <a:off x="4846320" y="3145536"/>
            <a:ext cx="237744" cy="23774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35">
            <a:extLst>
              <a:ext uri="{FF2B5EF4-FFF2-40B4-BE49-F238E27FC236}">
                <a16:creationId xmlns:a16="http://schemas.microsoft.com/office/drawing/2014/main" id="{8BE9ADDD-CD90-70D5-CD5C-DA1DB47140F4}"/>
              </a:ext>
            </a:extLst>
          </p:cNvPr>
          <p:cNvSpPr/>
          <p:nvPr/>
        </p:nvSpPr>
        <p:spPr>
          <a:xfrm>
            <a:off x="4846320" y="3145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94" name="Text 36">
            <a:extLst>
              <a:ext uri="{FF2B5EF4-FFF2-40B4-BE49-F238E27FC236}">
                <a16:creationId xmlns:a16="http://schemas.microsoft.com/office/drawing/2014/main" id="{3FD70C5D-4F4B-76D9-4886-AB127E674628}"/>
              </a:ext>
            </a:extLst>
          </p:cNvPr>
          <p:cNvSpPr/>
          <p:nvPr/>
        </p:nvSpPr>
        <p:spPr>
          <a:xfrm>
            <a:off x="5212080" y="31181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synthesizes everything</a:t>
            </a:r>
            <a:endParaRPr lang="en-US" sz="1200" dirty="0"/>
          </a:p>
        </p:txBody>
      </p:sp>
      <p:sp>
        <p:nvSpPr>
          <p:cNvPr id="95" name="Text 37">
            <a:extLst>
              <a:ext uri="{FF2B5EF4-FFF2-40B4-BE49-F238E27FC236}">
                <a16:creationId xmlns:a16="http://schemas.microsoft.com/office/drawing/2014/main" id="{82C7DF41-7B13-082C-53B2-B329AAB29048}"/>
              </a:ext>
            </a:extLst>
          </p:cNvPr>
          <p:cNvSpPr/>
          <p:nvPr/>
        </p:nvSpPr>
        <p:spPr>
          <a:xfrm>
            <a:off x="5212080" y="33558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combines all data + triage protocols via RAG.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confidence score + required hospital capabilities.</a:t>
            </a:r>
            <a:endParaRPr lang="en-US" sz="900" dirty="0"/>
          </a:p>
        </p:txBody>
      </p:sp>
      <p:sp>
        <p:nvSpPr>
          <p:cNvPr id="96" name="Shape 38">
            <a:extLst>
              <a:ext uri="{FF2B5EF4-FFF2-40B4-BE49-F238E27FC236}">
                <a16:creationId xmlns:a16="http://schemas.microsoft.com/office/drawing/2014/main" id="{9BC20404-EFAB-F63E-F061-C717E64BD782}"/>
              </a:ext>
            </a:extLst>
          </p:cNvPr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141B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7" name="Image 2" descr="preencoded.png">
            <a:extLst>
              <a:ext uri="{FF2B5EF4-FFF2-40B4-BE49-F238E27FC236}">
                <a16:creationId xmlns:a16="http://schemas.microsoft.com/office/drawing/2014/main" id="{CF3D153B-DDCA-C08D-A1AE-D2ADBD6DF1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590288"/>
            <a:ext cx="292608" cy="292608"/>
          </a:xfrm>
          <a:prstGeom prst="rect">
            <a:avLst/>
          </a:prstGeom>
        </p:spPr>
      </p:pic>
      <p:sp>
        <p:nvSpPr>
          <p:cNvPr id="98" name="Text 39">
            <a:extLst>
              <a:ext uri="{FF2B5EF4-FFF2-40B4-BE49-F238E27FC236}">
                <a16:creationId xmlns:a16="http://schemas.microsoft.com/office/drawing/2014/main" id="{FF4D4177-EE7E-7FE2-0FF4-22F5ED1310FB}"/>
              </a:ext>
            </a:extLst>
          </p:cNvPr>
          <p:cNvSpPr/>
          <p:nvPr/>
        </p:nvSpPr>
        <p:spPr>
          <a:xfrm>
            <a:off x="868680" y="45354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example:</a:t>
            </a:r>
            <a:endParaRPr lang="en-US" sz="1000" dirty="0"/>
          </a:p>
        </p:txBody>
      </p:sp>
      <p:sp>
        <p:nvSpPr>
          <p:cNvPr id="99" name="Text 40">
            <a:extLst>
              <a:ext uri="{FF2B5EF4-FFF2-40B4-BE49-F238E27FC236}">
                <a16:creationId xmlns:a16="http://schemas.microsoft.com/office/drawing/2014/main" id="{3ACD2B76-D9AB-A0FB-DEAF-62067F22993D}"/>
              </a:ext>
            </a:extLst>
          </p:cNvPr>
          <p:cNvSpPr/>
          <p:nvPr/>
        </p:nvSpPr>
        <p:spPr>
          <a:xfrm>
            <a:off x="2194560" y="453542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175 + gym GPS + vigorous motion + normal ECG = exercise (no alert).</a:t>
            </a:r>
            <a:endParaRPr lang="en-US" sz="1000" dirty="0"/>
          </a:p>
        </p:txBody>
      </p:sp>
      <p:sp>
        <p:nvSpPr>
          <p:cNvPr id="100" name="Text 41">
            <a:extLst>
              <a:ext uri="{FF2B5EF4-FFF2-40B4-BE49-F238E27FC236}">
                <a16:creationId xmlns:a16="http://schemas.microsoft.com/office/drawing/2014/main" id="{37301971-0824-3053-B895-629EDE04F735}"/>
              </a:ext>
            </a:extLst>
          </p:cNvPr>
          <p:cNvSpPr/>
          <p:nvPr/>
        </p:nvSpPr>
        <p:spPr>
          <a:xfrm>
            <a:off x="2194560" y="47365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175 → sudden drop to 38 + ST elevation + fall = real emergency (dispatch).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Hospital, Not Just Nearest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 AI analyzes published hospital capability data in the community to match the emergency to the right facility.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560320"/>
          </a:xfrm>
          <a:prstGeom prst="rect">
            <a:avLst/>
          </a:prstGeom>
          <a:solidFill>
            <a:srgbClr val="1E274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4572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911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Routes to nearest hospital by distance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No knowledge of hospital capabilities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3E3E"/>
                </a:solidFill>
              </a:rPr>
              <a:t>Stroke patient → hospital without stroke center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3E3E"/>
                </a:solidFill>
              </a:rPr>
              <a:t>STEMI patient → hospital without cath lab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3E3E"/>
                </a:solidFill>
              </a:rPr>
              <a:t>Patient transferred again → more delay → more damage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2560320"/>
          </a:xfrm>
          <a:prstGeom prst="rect">
            <a:avLst/>
          </a:prstGeom>
          <a:solidFill>
            <a:srgbClr val="1E274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 AI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Analyzes published hospital capability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Matches condition → required capability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B981"/>
                </a:solidFill>
              </a:rPr>
              <a:t>STEMI → hospital with open cath lab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B981"/>
                </a:solidFill>
              </a:rPr>
              <a:t>Stroke → comprehensive stroke center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B981"/>
                </a:solidFill>
              </a:rPr>
              <a:t>Right care, first time, no transfer delay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14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4233672"/>
            <a:ext cx="137160" cy="137160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Arrest → Cath Lab + ICU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97480" y="4233672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2608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Ischemic Stroke → Stroke Center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4233672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Trauma → Level 1 Trauma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4233672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4088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Anaphylaxis → ER + ICU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data sourced from publicly available facility registries, CMS data, and state health department records — analyzed by LLM.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&amp; Safety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3657600"/>
          </a:xfrm>
          <a:prstGeom prst="rect">
            <a:avLst/>
          </a:prstGeom>
          <a:solidFill>
            <a:srgbClr val="1E274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45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563624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OpenBioLLM-70B (HuggingFace)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947672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18928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scispaCy → SNOMED CT codes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33172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22768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276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sentence-transformers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271576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26609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2660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 + Synthea patients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099816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" y="3044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044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SNOMED · LOINC · RxNorm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3483864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0120" y="3429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1168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LangChain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3867912"/>
            <a:ext cx="146304" cy="146304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0120" y="3813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3813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Python (no LLM)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914400"/>
            <a:ext cx="3931920" cy="3657600"/>
          </a:xfrm>
          <a:prstGeom prst="rect">
            <a:avLst/>
          </a:prstGeom>
          <a:solidFill>
            <a:srgbClr val="1E274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914400"/>
            <a:ext cx="393192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051560"/>
            <a:ext cx="274320" cy="27432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30352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by Design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937760" y="1591056"/>
            <a:ext cx="128016" cy="128016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212080" y="1508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never makes irreversible decisions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routing, dispatch = deterministic Python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937760" y="2139696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212080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requires cross-device agreement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+ phone must agree before dispatching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37760" y="2688336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212080" y="2606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support, not decision maker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"Possible" / "suspected" — never definitive diagnosis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937760" y="3236976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212080" y="3154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confirmation before dispatch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false positives while catching real events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937760" y="3785616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212080" y="3703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shows "Also call 911 directly"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supplements emergency services, never replaces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open-source AI stack  ·  No paid APIs  ·  No vendor lock-in  ·  All hackathon-recommended tools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09" y="72259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3091" y="0"/>
            <a:ext cx="3867281" cy="69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LifeLine</a:t>
            </a: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AI- </a:t>
            </a:r>
            <a:r>
              <a:rPr lang="en-US" sz="2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whats</a:t>
            </a: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next??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63285" y="2106273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4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demonstration purposes only. Not a medical device. Not FDA cleared. In a real emergency, call 911.</a:t>
            </a:r>
            <a:endParaRPr lang="en-US" sz="9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215A19-3B08-598C-7E26-8C4060D2A652}"/>
              </a:ext>
            </a:extLst>
          </p:cNvPr>
          <p:cNvSpPr txBox="1"/>
          <p:nvPr/>
        </p:nvSpPr>
        <p:spPr>
          <a:xfrm>
            <a:off x="263285" y="732571"/>
            <a:ext cx="8773797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2"/>
                </a:solidFill>
              </a:rPr>
              <a:t>The Same System Works for Other Emergencies</a:t>
            </a:r>
          </a:p>
          <a:p>
            <a:endParaRPr lang="en-US" sz="1400" b="1" dirty="0">
              <a:solidFill>
                <a:schemeClr val="bg2"/>
              </a:solidFill>
            </a:endParaRPr>
          </a:p>
          <a:p>
            <a:r>
              <a:rPr lang="en-US" sz="1400" b="1" dirty="0" err="1">
                <a:solidFill>
                  <a:schemeClr val="bg2"/>
                </a:solidFill>
              </a:rPr>
              <a:t>LifeLine</a:t>
            </a:r>
            <a:r>
              <a:rPr lang="en-US" sz="1400" b="1" dirty="0">
                <a:solidFill>
                  <a:schemeClr val="bg2"/>
                </a:solidFill>
              </a:rPr>
              <a:t> AI's approach — continuous monitoring + voice confirmation + smart routing + pre-arrival handoff — applies to any medical emergency.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b="1" dirty="0">
                <a:solidFill>
                  <a:schemeClr val="bg2"/>
                </a:solidFill>
              </a:rPr>
              <a:t>Stroke:</a:t>
            </a:r>
            <a:r>
              <a:rPr lang="en-US" sz="1400" dirty="0">
                <a:solidFill>
                  <a:schemeClr val="bg2"/>
                </a:solidFill>
              </a:rPr>
              <a:t> Detect slurred speech and facial weakness → route to stroke center with thrombectomy</a:t>
            </a:r>
          </a:p>
          <a:p>
            <a:endParaRPr lang="en-US" sz="1400" b="1" dirty="0">
              <a:solidFill>
                <a:schemeClr val="bg2"/>
              </a:solidFill>
            </a:endParaRPr>
          </a:p>
          <a:p>
            <a:r>
              <a:rPr lang="en-US" sz="1400" b="1" dirty="0">
                <a:solidFill>
                  <a:schemeClr val="bg2"/>
                </a:solidFill>
              </a:rPr>
              <a:t>Diabetes crisis:</a:t>
            </a:r>
            <a:r>
              <a:rPr lang="en-US" sz="1400" dirty="0">
                <a:solidFill>
                  <a:schemeClr val="bg2"/>
                </a:solidFill>
              </a:rPr>
              <a:t> Glucose monitor detects dangerous levels → confirm consciousness → dispatch with insulin/glucose status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b="1" dirty="0">
                <a:solidFill>
                  <a:schemeClr val="bg2"/>
                </a:solidFill>
              </a:rPr>
              <a:t>Severe allergic reaction:</a:t>
            </a:r>
            <a:r>
              <a:rPr lang="en-US" sz="1400" dirty="0">
                <a:solidFill>
                  <a:schemeClr val="bg2"/>
                </a:solidFill>
              </a:rPr>
              <a:t> SpO2 drops + throat swelling reported → match allergen from history → route to hospital with ICU</a:t>
            </a:r>
          </a:p>
          <a:p>
            <a:endParaRPr lang="en-US" sz="1400" b="1" dirty="0">
              <a:solidFill>
                <a:schemeClr val="bg2"/>
              </a:solidFill>
            </a:endParaRPr>
          </a:p>
          <a:p>
            <a:r>
              <a:rPr lang="en-US" sz="1400" b="1" dirty="0">
                <a:solidFill>
                  <a:schemeClr val="bg2"/>
                </a:solidFill>
              </a:rPr>
              <a:t>Elderly fall:</a:t>
            </a:r>
            <a:r>
              <a:rPr lang="en-US" sz="1400" dirty="0">
                <a:solidFill>
                  <a:schemeClr val="bg2"/>
                </a:solidFill>
              </a:rPr>
              <a:t> Fall detected + no movement for 2 minutes → auto-dispatch with anticoagulant status for hip fracture protocol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b="1" dirty="0">
                <a:solidFill>
                  <a:schemeClr val="bg2"/>
                </a:solidFill>
              </a:rPr>
              <a:t>Respiratory emergency:</a:t>
            </a:r>
            <a:r>
              <a:rPr lang="en-US" sz="1400" dirty="0">
                <a:solidFill>
                  <a:schemeClr val="bg2"/>
                </a:solidFill>
              </a:rPr>
              <a:t> SpO2 &lt; 85% in asthma patient → confirm severity → oxygen-capable ambulance dispatched</a:t>
            </a:r>
          </a:p>
          <a:p>
            <a:r>
              <a:rPr lang="en-US" sz="1400" b="1" dirty="0">
                <a:solidFill>
                  <a:schemeClr val="bg2"/>
                </a:solidFill>
              </a:rPr>
              <a:t>Seizure:</a:t>
            </a:r>
            <a:r>
              <a:rPr lang="en-US" sz="1400" dirty="0">
                <a:solidFill>
                  <a:schemeClr val="bg2"/>
                </a:solidFill>
              </a:rPr>
              <a:t> Abnormal movement + unconscious → dispatch after 90 seconds with seizure medication history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993</Words>
  <Application>Microsoft Macintosh PowerPoint</Application>
  <PresentationFormat>On-screen Show (16:9)</PresentationFormat>
  <Paragraphs>176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LifeLine AI — Live Cardiac Detection &amp; Emergency Response</dc:title>
  <dc:subject>PptxGenJS Presentation</dc:subject>
  <dc:creator>Alok Kumar Thakur</dc:creator>
  <cp:lastModifiedBy>Thakur, Alok Kumar</cp:lastModifiedBy>
  <cp:revision>2</cp:revision>
  <dcterms:created xsi:type="dcterms:W3CDTF">2026-04-26T19:35:38Z</dcterms:created>
  <dcterms:modified xsi:type="dcterms:W3CDTF">2026-04-26T20:29:12Z</dcterms:modified>
</cp:coreProperties>
</file>